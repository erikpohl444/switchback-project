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59876B-6CE6-4C6E-A04F-E840719030AD}">
  <a:tblStyle styleId="{1759876B-6CE6-4C6E-A04F-E840719030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7882c44c644c0b5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57882c44c644c0b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7882c44c644c0b5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7882c44c644c0b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57882c44c644c0b5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h57882c44c644c0b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h57882c44c644c0b5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h57882c44c644c0b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7200" y="4313783"/>
            <a:ext cx="857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7200" y="4313783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57200" y="2020341"/>
            <a:ext cx="385650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ENGINEERING MANAGEMENT CASE STUDY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7200" y="2334666"/>
            <a:ext cx="9101137" cy="1007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1: Switchback Rollout Plan &amp; Execution Strategy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3494633"/>
            <a:ext cx="695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practical manager's plan: Capacity math, sprint milestones, team leadership, stakeholder alignment, and zero-trust quality guardrails.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7200" y="4551908"/>
            <a:ext cx="27503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7200" y="4713833"/>
            <a:ext cx="2750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Engineering Manager (Player-Coach)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62275" y="4551908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Scope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962275" y="4713833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 Sprints (8 Weeks) | 5 FTE Team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248275" y="4551908"/>
            <a:ext cx="1547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Target Net Hours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248275" y="4713833"/>
            <a:ext cx="1547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1,024 Feature Hours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457200" y="381000"/>
            <a:ext cx="2329904" cy="209550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5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26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07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225" y="133528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0" y="134481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419100"/>
            <a:ext cx="21965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QUESTION 1: DELIVERY &amp; EXECUTION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57200" y="666750"/>
            <a:ext cx="1173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Capacity Planning: 1,024 Available Feature Hours</a:t>
            </a:r>
            <a:r>
              <a:rPr b="1" lang="en-US" sz="19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Across 4 Sprints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23925" y="1316235"/>
            <a:ext cx="38052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Baseline Gross Capacity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57725" y="1316235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Standard Overhead (80%)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15350" y="1325760"/>
            <a:ext cx="3676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Net Available (Carryover)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7225" y="1582935"/>
            <a:ext cx="33528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4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1,600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467225" y="1582935"/>
            <a:ext cx="33528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4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1,280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286750" y="1592460"/>
            <a:ext cx="333375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4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1,024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7225" y="1968698"/>
            <a:ext cx="4071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Gross Person-Hours Across 4 Sprints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42950" y="225206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2254448"/>
            <a:ext cx="38814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Team Roster: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 Engineers + 1 EM (5 FTEs).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42950" y="24759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2478285"/>
            <a:ext cx="38814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Timeline: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 Sprints = 8 Weeks = 40 Days.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42950" y="269974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2702123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Gross Math: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5 FTEs × 40 Days × 8 Hours/Day = 1,600 Gross Hours.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467225" y="1968698"/>
            <a:ext cx="4071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 Working Capacity Hours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552950" y="225206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19625" y="2254448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Overhead Factor: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80% standard capacity limitation applied.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552950" y="266164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19625" y="2664023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Accounts for: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Ceremonies, meetings, context switches, and administrative duties.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552950" y="307121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19625" y="3073598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1,600 Gross Hours × 0.80 = 1,280 Net Hours.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286750" y="1978223"/>
            <a:ext cx="3905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 Available Hours for New Features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72475" y="226159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39150" y="2263973"/>
            <a:ext cx="3181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Buffer Allocation: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20% capacity demand reserved for carryover &amp; tech debt.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72475" y="267116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439150" y="2673548"/>
            <a:ext cx="3181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Final Feature Hours: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1,280 Net Hours × 0.80 = </a:t>
            </a: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1,024 Hours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72475" y="308074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439150" y="3083123"/>
            <a:ext cx="37528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Cadence Rate: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256 hours/sprint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across team.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57200" y="381000"/>
            <a:ext cx="2329904" cy="209550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5720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19125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33528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419100"/>
            <a:ext cx="21965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QUESTION 1: DELIVERY &amp; EXECUTION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Execution Plan: Sprints 1 &amp; 2 Milestone Roadmap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04875" y="1316235"/>
            <a:ext cx="6181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1: Foundation &amp; Contracts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7225" y="1582935"/>
            <a:ext cx="6429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WEEKS 1–2 | FOCUS: INFRASTRUCTURE &amp; ALIGNMENT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57975" y="1316235"/>
            <a:ext cx="5534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2: Core Engineering &amp; Telemetry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391275" y="1582935"/>
            <a:ext cx="58007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WEEKS 3–4 | FOCUS: LOAD-BEARING SLICES &amp; CONTRACT FREEZE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42950" y="18472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9625" y="1849635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Co-Create Execution Plan: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Align with Priya &amp; secure Director sign-off.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42950" y="207109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09625" y="2073473"/>
            <a:ext cx="5086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Cross-Squad Contracts: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requirements &amp; due dates to Enterprise API and Supply squads.  These will not be surprises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both groups will be brought into alignment prior to kickoff.  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742950" y="2670289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09625" y="2704274"/>
            <a:ext cx="5086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AWS Infrastructure: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Provision Staging/Canary IaC, VPC, PrivateLink endpoints, and Secrets Manager.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42950" y="3206279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09625" y="3192858"/>
            <a:ext cx="5086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Architecture Sign-Off: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Secure approval on zero-trust identity and tenant-isolation boundaries.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477000" y="18472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543675" y="18496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Component Engineering: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Unit test &amp; review SSO handoff, degraded-mode fallback, and tenant-isolation guardrails.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77000" y="225682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543675" y="2259210"/>
            <a:ext cx="56483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Contract Freeze: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Formal cross-squad API schema freeze with external teams.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477000" y="248066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543675" y="2483048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SIT: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Integration testing across internal Switchback boundaries and local stubs.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77000" y="289024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543675" y="2892623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Telemetry &amp; Audit: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Instrument New Relic custom attributes () &amp; PII masking audit.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182225" y="2921198"/>
            <a:ext cx="8858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tenant_id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457200" y="381000"/>
            <a:ext cx="2329904" cy="209550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5720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19125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71500" y="419100"/>
            <a:ext cx="21965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QUESTION 1: DELIVERY &amp; EXECUTION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Execution Plan: Sprints 3 &amp; 4 Integration &amp; Rollout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85825" y="1316235"/>
            <a:ext cx="6200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3: Integration, Resilience &amp; Rootly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57225" y="1582935"/>
            <a:ext cx="6429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WEEKS 5–6 | FOCUS: LIVE ENDPOINTS &amp; INCIDENT TRIAGE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619875" y="1316235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Sprint 4: Phased Canary Rollout &amp; GA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391275" y="1582935"/>
            <a:ext cx="58007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WEEKS 7–8 | FOCUS: GO/NO-GO &amp; PROGRESSIVE CUTOVER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42950" y="18472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09625" y="18496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 Cross-Squad SIT: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End-to-end integration testing with Enterprise API and Supply live endpoints.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42950" y="225682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09625" y="225921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Stress &amp; Chaos Testing: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ECS auto-scaling, DB connection pool stress, and fault injection validation.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42950" y="26664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09625" y="266878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Observability &amp; Alerts: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Configure New Relic synthetics &amp; NRQL alert webhooks to Rootly.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742950" y="30759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09625" y="307836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Runbooks: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Train support teams, establish PagerDuty schedules &amp; populate Rootly workflows.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477000" y="18472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543675" y="18496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Go/No-Go Gate: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Conduct CAB review &amp; formal Go/No-Go meeting with EM, Priya, Marcus, and leads.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477000" y="225682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543675" y="225921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Phased Canary Ramp: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1% Synthetic → 1% Live (10k users) → 10% → 25% → 50% → 100% (1M daily).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477000" y="26664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543675" y="266878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Hypercare &amp; Decom: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Monitor production error budgets, execute legacy decommission plan, and hold retrospective.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457200" y="381000"/>
            <a:ext cx="2387054" cy="209550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5720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19125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571500" y="419100"/>
            <a:ext cx="225370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QUESTION 1: DEPENDENCIES &amp; SEAMS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Managing Unowned Dependencies &amp; Answering "When?"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23925" y="1316235"/>
            <a:ext cx="6162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Enterprise API &amp; Supply Squad Seams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619875" y="1316235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Answering the Partner's "When?" Honestly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74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09625" y="164008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EM-to-EM Alignment: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Recognize external EM capacity constraints; act as a clear consumer guard.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4295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809625" y="204966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Contract Freeze: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Lock OpenAPI specs in Sprint 1 supported by sample data dictionaries 1 week prior.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4295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09625" y="24592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Resilient Circuit Breakers: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strict SLA timeouts (1,000ms) and automated baseline offer fallbacks to prevent external slowness from breaking Switchback.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47700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543675" y="164008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Decouple Deploy from Release: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LaunchDarkly canary flags to control feature activation independently of deployment.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47700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543675" y="204966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Milestone-Driven Dates: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Commit to a rollout window anchored on verified exit criteria (e.g., SIT pass rates, p99 latency SLAs).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47700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543675" y="24592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Progressive Confidence: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Communicate a risk-bounded canary ramp (1% → 10% → 50% → 100%) backed by automated Rootly monitoring.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2" y="-6552"/>
            <a:ext cx="121708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457200" y="381000"/>
            <a:ext cx="2415629" cy="209550"/>
          </a:xfrm>
          <a:prstGeom prst="roundRect">
            <a:avLst>
              <a:gd fmla="val 18181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57200" y="1179435"/>
            <a:ext cx="2705100" cy="5360700"/>
          </a:xfrm>
          <a:prstGeom prst="roundRect">
            <a:avLst>
              <a:gd fmla="val 28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314700" y="1116210"/>
            <a:ext cx="2705100" cy="5360789"/>
          </a:xfrm>
          <a:prstGeom prst="roundRect">
            <a:avLst>
              <a:gd fmla="val 28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172200" y="1116210"/>
            <a:ext cx="2705100" cy="5360789"/>
          </a:xfrm>
          <a:prstGeom prst="roundRect">
            <a:avLst>
              <a:gd fmla="val 28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9029700" y="1116210"/>
            <a:ext cx="2705100" cy="5360789"/>
          </a:xfrm>
          <a:prstGeom prst="roundRect">
            <a:avLst>
              <a:gd fmla="val 28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0523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725" y="1330523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330523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9725" y="133052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571500" y="419100"/>
            <a:ext cx="228227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QUESTION 2: PEOPLE &amp; PERFORMANCE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Deployment: Growth-Oriented Assignments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04875" y="1316235"/>
            <a:ext cx="26336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Priya (Senior)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57225" y="1554360"/>
            <a:ext cx="2881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RETENTION &amp; LEADERSHIP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3762375" y="1316235"/>
            <a:ext cx="26336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Marcus (Mid)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3514725" y="1554360"/>
            <a:ext cx="2881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STRETCH TO SENIOR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619875" y="1316235"/>
            <a:ext cx="26336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Dana (Mid)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372225" y="1554360"/>
            <a:ext cx="2881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QUALITY GAP CLOSURE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420225" y="1316235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Sam (Associate)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9229725" y="1554360"/>
            <a:ext cx="288131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RAPID RAMPING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752475" y="178057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09625" y="1782950"/>
            <a:ext cx="2247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Leads SSO Identity Handoff &amp;</a:t>
            </a:r>
            <a:r>
              <a:rPr lang="en-US" sz="8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cross-squad architecture.Given broad </a:t>
            </a:r>
            <a:r>
              <a:rPr lang="en-US" sz="8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team leadership responsibilities, supported by EM.</a:t>
            </a:r>
            <a:endParaRPr sz="8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752475" y="2327860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09625" y="2315103"/>
            <a:ext cx="224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Expands scope toward Staff IC; mentors Sam.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 flipH="1" rot="10800000">
            <a:off x="752475" y="2745306"/>
            <a:ext cx="57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09625" y="2661630"/>
            <a:ext cx="224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Mitigation: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Prevents single-threading by documenting auth patterns.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3609975" y="178057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3667125" y="178296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Project Coordinator &amp; Degraded-Mode Fallback Lead.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3609975" y="2133004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3667125" y="2135385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Owns Supply integration seam &amp; project plan tracking.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3609975" y="248542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3667125" y="248781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Leverages technical project management strengths.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6467475" y="178057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6524625" y="178296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Co-owns resilience testing &amp; telemetry instrumentation.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467475" y="2133004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524625" y="2135385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Paired with Marcus; enforces 85% Vitest coverage gates.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467475" y="248542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524625" y="248781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Closes quality gap without dampening morale.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9324975" y="178057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9382125" y="178296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Tenant-Isolation Guardrail Lead (paired with EM).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9324975" y="2133004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9382125" y="2135385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Growth: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Focuses on database query scoping &amp; baseline logic.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9324975" y="2485429"/>
            <a:ext cx="57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382125" y="2487810"/>
            <a:ext cx="224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Accelerates core skills via weekly 1:1 mentorship.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/>
          <p:nvPr/>
        </p:nvSpPr>
        <p:spPr>
          <a:xfrm>
            <a:off x="457200" y="381000"/>
            <a:ext cx="2597497" cy="209550"/>
          </a:xfrm>
          <a:prstGeom prst="roundRect">
            <a:avLst>
              <a:gd fmla="val 18181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57200" y="1116210"/>
            <a:ext cx="11277600" cy="1952625"/>
          </a:xfrm>
          <a:prstGeom prst="roundRect">
            <a:avLst>
              <a:gd fmla="val 390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57200" y="3545085"/>
            <a:ext cx="225549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712690" y="3545085"/>
            <a:ext cx="28194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532090" y="3545085"/>
            <a:ext cx="428535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9817447" y="3545085"/>
            <a:ext cx="191735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000500" y="1506735"/>
            <a:ext cx="4191000" cy="381000"/>
          </a:xfrm>
          <a:prstGeom prst="roundRect">
            <a:avLst>
              <a:gd fmla="val 15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086475" y="1887735"/>
            <a:ext cx="19050" cy="1143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3714750" y="1982985"/>
            <a:ext cx="4762500" cy="409575"/>
          </a:xfrm>
          <a:prstGeom prst="roundRect">
            <a:avLst>
              <a:gd fmla="val 13953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3333750" y="2392560"/>
            <a:ext cx="55245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81025" y="2449710"/>
            <a:ext cx="2700337" cy="4953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3357562" y="2449710"/>
            <a:ext cx="2700337" cy="4953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6134100" y="2449710"/>
            <a:ext cx="2700337" cy="4953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8910637" y="2449710"/>
            <a:ext cx="2700337" cy="4953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57200" y="3864173"/>
            <a:ext cx="22554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712690" y="3864173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532090" y="3864173"/>
            <a:ext cx="428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9817447" y="3864173"/>
            <a:ext cx="1917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57200" y="4168973"/>
            <a:ext cx="22554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712690" y="4168973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532090" y="4168973"/>
            <a:ext cx="428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9817447" y="4168973"/>
            <a:ext cx="1917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57200" y="4473773"/>
            <a:ext cx="22554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2712690" y="4473773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532090" y="4473773"/>
            <a:ext cx="428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9817447" y="4473773"/>
            <a:ext cx="1917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57200" y="4778573"/>
            <a:ext cx="22554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2712690" y="4778573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5532090" y="4778573"/>
            <a:ext cx="428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9817447" y="4778573"/>
            <a:ext cx="1917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57200" y="5083373"/>
            <a:ext cx="22554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2712690" y="5083373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532090" y="5083373"/>
            <a:ext cx="4285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9817447" y="5083373"/>
            <a:ext cx="1917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3333750" y="2392560"/>
            <a:ext cx="19050" cy="57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5156745" y="2392560"/>
            <a:ext cx="19050" cy="57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979890" y="2392560"/>
            <a:ext cx="19050" cy="57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8839200" y="2392560"/>
            <a:ext cx="19050" cy="57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81025" y="2935485"/>
            <a:ext cx="27003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81025" y="2449710"/>
            <a:ext cx="2700337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81025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3271837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3357562" y="2935485"/>
            <a:ext cx="27003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357562" y="2449710"/>
            <a:ext cx="2700337" cy="2857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3357562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048375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6134100" y="2935485"/>
            <a:ext cx="27003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6134100" y="2449710"/>
            <a:ext cx="2700337" cy="285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6134100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8824912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8910637" y="2935485"/>
            <a:ext cx="27003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8910637" y="2449710"/>
            <a:ext cx="2700337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8910637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11601450" y="2449710"/>
            <a:ext cx="9525" cy="495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9931747" y="3640335"/>
            <a:ext cx="1114425" cy="171450"/>
          </a:xfrm>
          <a:prstGeom prst="roundRect">
            <a:avLst>
              <a:gd fmla="val 22222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9931747" y="3945135"/>
            <a:ext cx="1381125" cy="171450"/>
          </a:xfrm>
          <a:prstGeom prst="roundRect">
            <a:avLst>
              <a:gd fmla="val 22222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9931747" y="4249935"/>
            <a:ext cx="1114425" cy="171450"/>
          </a:xfrm>
          <a:prstGeom prst="roundRect">
            <a:avLst>
              <a:gd fmla="val 22222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9931747" y="4554735"/>
            <a:ext cx="1114425" cy="171450"/>
          </a:xfrm>
          <a:prstGeom prst="roundRect">
            <a:avLst>
              <a:gd fmla="val 22222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9931747" y="4859535"/>
            <a:ext cx="1114425" cy="171450"/>
          </a:xfrm>
          <a:prstGeom prst="roundRect">
            <a:avLst>
              <a:gd fmla="val 22222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1" name="Google Shape;3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5825" y="158293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25" y="2078235"/>
            <a:ext cx="104775" cy="1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21"/>
          <p:cNvGraphicFramePr/>
          <p:nvPr/>
        </p:nvGraphicFramePr>
        <p:xfrm>
          <a:off x="457200" y="32593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{1759876B-6CE6-4C6E-A04F-E840719030AD}</a:tableStyleId>
              </a:tblPr>
              <a:tblGrid>
                <a:gridCol w="2255500"/>
                <a:gridCol w="2819400"/>
                <a:gridCol w="4285350"/>
                <a:gridCol w="1917350"/>
              </a:tblGrid>
              <a:tr h="3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Role / Member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Governance Title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 &amp; Task Ownership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RACI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 (</a:t>
                      </a:r>
                      <a:r>
                        <a:rPr b="1" lang="en-US" sz="9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</a:t>
                      </a: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Overall Project Owner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Tenant Isolation Architecture &amp; Delivery Sign-off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 Lead / TPM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SSO Identity Handoff &amp; AWS Secrets/Infra Scaffold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Coordinator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Plan Tracking, Supply API Integration &amp; Degraded Fallbacks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Quality &amp; Test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Load/Stress Testing, APM Telemetry &amp; Rootly Alert Workflows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Associate 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Tenant-Isolation Guardrail (Database Query Scoping)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21"/>
          <p:cNvSpPr txBox="1"/>
          <p:nvPr/>
        </p:nvSpPr>
        <p:spPr>
          <a:xfrm>
            <a:off x="571500" y="419100"/>
            <a:ext cx="24641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QUESTION 2: OWNERSHIP &amp; GOVERNANCE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Governance &amp; Hierarchical RACI Structure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-398859" y="1240035"/>
            <a:ext cx="129897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Governance Hierarchy &amp; Delegation Flow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3619500" y="1563885"/>
            <a:ext cx="495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Engineering Manager / Player-Coach (</a:t>
            </a:r>
            <a:r>
              <a:rPr b="1" lang="en-US" sz="9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</a:t>
            </a: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3619500" y="1716285"/>
            <a:ext cx="4953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ACCOUNTABLE (A)</a:t>
            </a:r>
            <a:r>
              <a:rPr b="0" i="0" lang="en-US" sz="7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— Ultimate Accountable Owner for Project Success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3286125" y="2059185"/>
            <a:ext cx="5619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Priya — Tech Lead / TPM (Under EM)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3286125" y="2202060"/>
            <a:ext cx="5619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ACCOUNTABLE &amp; RESPONSIBLE (A/R)</a:t>
            </a:r>
            <a:r>
              <a:rPr b="0" i="0" lang="en-US" sz="750" u="none" cap="none" strike="noStrik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 — Tech Architecture, Cross-Squad Contracts &amp; Leadership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326826" y="2535435"/>
            <a:ext cx="320873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Priya (Senior)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326826" y="2668785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SSO &amp; Auth Handoff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326826" y="2773560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Responsible (R)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3103364" y="2535435"/>
            <a:ext cx="320873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Marcus (Mid)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3103364" y="2668785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Project Coordinator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3103364" y="2773560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 Tracking &amp; Fallbacks</a:t>
            </a: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5879901" y="2535435"/>
            <a:ext cx="320873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Dana (Mid)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5879901" y="2668785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Quality &amp; Test Owner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5879901" y="2773560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SIT, Telemetry &amp; Alerts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8656439" y="2535435"/>
            <a:ext cx="320873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Sam (Associate)</a:t>
            </a:r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8656439" y="2668785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Tenant Isolation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8656439" y="2773560"/>
            <a:ext cx="320873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Paired with EM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9988897" y="3659385"/>
            <a:ext cx="1095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Accountable (A)</a:t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9988897" y="3964185"/>
            <a:ext cx="13620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Accountable / Resp.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9988897" y="4268985"/>
            <a:ext cx="1095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Responsible (R)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9988897" y="4573785"/>
            <a:ext cx="1095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Responsible (R)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9988897" y="4878585"/>
            <a:ext cx="1095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Responsible (R)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48900" cy="66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/>
          <p:nvPr/>
        </p:nvSpPr>
        <p:spPr>
          <a:xfrm>
            <a:off x="457200" y="381000"/>
            <a:ext cx="3009900" cy="209550"/>
          </a:xfrm>
          <a:prstGeom prst="roundRect">
            <a:avLst>
              <a:gd fmla="val 18181" name="adj"/>
            </a:avLst>
          </a:prstGeom>
          <a:solidFill>
            <a:srgbClr val="FA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45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426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8077200" y="1132012"/>
            <a:ext cx="3657600" cy="5360700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22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722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3"/>
          <p:cNvSpPr txBox="1"/>
          <p:nvPr/>
        </p:nvSpPr>
        <p:spPr>
          <a:xfrm>
            <a:off x="571500" y="419100"/>
            <a:ext cx="28765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6198F"/>
                </a:solidFill>
                <a:latin typeface="Inter"/>
                <a:ea typeface="Inter"/>
                <a:cs typeface="Inter"/>
                <a:sym typeface="Inter"/>
              </a:rPr>
              <a:t>QUESTION 3: STAKEHOLDERS &amp; COMMUNICATION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Stakeholder Alignment &amp; Tradeoff Management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847725" y="1316235"/>
            <a:ext cx="3881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Managing Up (Director / Head)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4695825" y="1316235"/>
            <a:ext cx="38433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Managing Across (Product &amp; Squads)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8505825" y="1316235"/>
            <a:ext cx="3686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Managing Outward (Switchback)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74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809625" y="1640085"/>
            <a:ext cx="3200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Twice-weekly </a:t>
            </a: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Status: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Transparent milestone tracking backed by R/Y/G confidence indicators.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74295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2" name="Google Shape;392;p23"/>
          <p:cNvSpPr txBox="1"/>
          <p:nvPr/>
        </p:nvSpPr>
        <p:spPr>
          <a:xfrm>
            <a:off x="809625" y="2049660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Risk Escalation: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Raise external dependency blockers immediately with proposed solutions.</a:t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4295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4" name="Google Shape;394;p23"/>
          <p:cNvSpPr txBox="1"/>
          <p:nvPr/>
        </p:nvSpPr>
        <p:spPr>
          <a:xfrm>
            <a:off x="809625" y="2459235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Tradeoff Menus: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Present choices (e.g., defer non-critical features vs. extend canary ramp).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455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4619625" y="1640085"/>
            <a:ext cx="3200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 Alignment: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Weekly scope reviews to protect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project objectives and ensure product alignment.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455295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4619625" y="2049660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Interface Contracts: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Lock OpenAPI schemas &amp; Fastify route validators early with external leads.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455295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4619625" y="2459235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Cross-Squad Syncs: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Bi-weekly technical touchpoints with Enterprise API &amp; Supply squad managers.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836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8539150" y="1657202"/>
            <a:ext cx="3200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Director Channel: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Filter external comms through Director and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 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maintain unified messaging.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Regular cadence with Switchback on progress, schedule slippage, and change management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8324850" y="2699906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8539150" y="2632964"/>
            <a:ext cx="3200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Honest Rollout Dates: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Frame timelines around progressive canary metrics rather than hard dates.</a:t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8362950" y="3175587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8505825" y="3175566"/>
            <a:ext cx="3200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Partner Expectations: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Transparent progress updates on 1% → 100% traffic migration.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8505825" y="3718182"/>
            <a:ext cx="3200400" cy="1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Trade-offs</a:t>
            </a: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Keep a list of potential downgrades to offer up as trade-offs to ensure quality and on-time delivery, including: reduced team member growth capacity for Marcus, fewer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canary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gates in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4, and trading off 20% on-going capacity prior to project for more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dedicated project-time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8320125" y="3721605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037074" cy="67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/>
          <p:nvPr/>
        </p:nvSpPr>
        <p:spPr>
          <a:xfrm>
            <a:off x="457200" y="381000"/>
            <a:ext cx="2708523" cy="209550"/>
          </a:xfrm>
          <a:prstGeom prst="roundRect">
            <a:avLst>
              <a:gd fmla="val 1818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45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426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/>
          <p:nvPr/>
        </p:nvSpPr>
        <p:spPr>
          <a:xfrm>
            <a:off x="8077200" y="1116210"/>
            <a:ext cx="3657600" cy="5360789"/>
          </a:xfrm>
          <a:prstGeom prst="roundRect">
            <a:avLst>
              <a:gd fmla="val 208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3" name="Google Shape;4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225" y="13352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7225" y="133528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 txBox="1"/>
          <p:nvPr/>
        </p:nvSpPr>
        <p:spPr>
          <a:xfrm>
            <a:off x="571500" y="419100"/>
            <a:ext cx="257517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QUESTION 4: OPERATING MODEL &amp; QUALITY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Day-to-Day Cadence, On-Call &amp; AI Governance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885825" y="1316235"/>
            <a:ext cx="38433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Day-to-Day Workflow</a:t>
            </a:r>
            <a:endParaRPr/>
          </a:p>
        </p:txBody>
      </p:sp>
      <p:sp>
        <p:nvSpPr>
          <p:cNvPr id="429" name="Google Shape;429;p25"/>
          <p:cNvSpPr txBox="1"/>
          <p:nvPr/>
        </p:nvSpPr>
        <p:spPr>
          <a:xfrm>
            <a:off x="4676775" y="1316235"/>
            <a:ext cx="3862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On-Call &amp; Rootly Orchestration</a:t>
            </a:r>
            <a:endParaRPr/>
          </a:p>
        </p:txBody>
      </p:sp>
      <p:sp>
        <p:nvSpPr>
          <p:cNvPr id="430" name="Google Shape;430;p25"/>
          <p:cNvSpPr txBox="1"/>
          <p:nvPr/>
        </p:nvSpPr>
        <p:spPr>
          <a:xfrm>
            <a:off x="8543925" y="1316235"/>
            <a:ext cx="3648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Throughput vs. Guardrails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74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809625" y="1640085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2-Week Sprints: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Agile cadence with daily standups, backlog grooming, and blameless retrospectives.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74295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809625" y="2049660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Quality Gates: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Mandatory CI/CD checks enforcing 85% Vitest unit test coverage before PR merge.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74295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6" name="Google Shape;436;p25"/>
          <p:cNvSpPr txBox="1"/>
          <p:nvPr/>
        </p:nvSpPr>
        <p:spPr>
          <a:xfrm>
            <a:off x="809625" y="2459235"/>
            <a:ext cx="3200400" cy="1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Peer Code Reviews: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PRs require 1 senior sign-off and automated SAST security scans.  Regular synchronous code reviews and 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asynchronous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 Syn</a:t>
            </a: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chronous reviews allow the team to meet, comment on code and testing together, learn and share.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455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4619625" y="1640085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Primary/Secondary Rotation: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Weekly on-call shift during core hours (9 AM – 7 PM EST).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55295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619625" y="2049660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New Relic NRQL Triggers: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alert webhooks to Rootly for error spikes or latency breaches.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4552950" y="2642592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2" name="Google Shape;442;p25"/>
          <p:cNvSpPr txBox="1"/>
          <p:nvPr/>
        </p:nvSpPr>
        <p:spPr>
          <a:xfrm>
            <a:off x="4619625" y="2644973"/>
            <a:ext cx="3200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Triage: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Switchback support acts as Tier 1; automated playbooks guide Tier 2 escalations.</a:t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836295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8429625" y="1640085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Permitted AI Use: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Test suite scaffolding, schema drafting, documentation/READMEs, and boilerplate code.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8362950" y="2233017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6" name="Google Shape;446;p25"/>
          <p:cNvSpPr txBox="1"/>
          <p:nvPr/>
        </p:nvSpPr>
        <p:spPr>
          <a:xfrm>
            <a:off x="8429625" y="2235398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Strictly Prohibited AI: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Core tenant isolation rules, DB query boundary logic, auth handoffs, and money-touching code.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8362950" y="282832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8429625" y="2830710"/>
            <a:ext cx="3200400" cy="1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Supervision: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Active prompt intervention (`[Esc]`) to prevent unguided security shortcuts.</a:t>
            </a:r>
            <a:endParaRPr b="0" i="0" sz="975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in the loop means: all and any code is human owned-- a human’s name is attached to all code, making accountability an enforcer for quality.  Quality and governance are baked into our operating plan.</a:t>
            </a:r>
            <a:endParaRPr sz="9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/>
          <p:nvPr/>
        </p:nvSpPr>
        <p:spPr>
          <a:xfrm>
            <a:off x="457200" y="381000"/>
            <a:ext cx="2439888" cy="209550"/>
          </a:xfrm>
          <a:prstGeom prst="roundRect">
            <a:avLst>
              <a:gd fmla="val 18181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45720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6191250" y="1116210"/>
            <a:ext cx="5543550" cy="5360789"/>
          </a:xfrm>
          <a:prstGeom prst="roundRect">
            <a:avLst>
              <a:gd fmla="val 1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657225" y="2030610"/>
            <a:ext cx="5143500" cy="2134344"/>
          </a:xfrm>
          <a:prstGeom prst="roundRect">
            <a:avLst>
              <a:gd fmla="val 267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7" name="Google Shape;4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3528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33528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6"/>
          <p:cNvSpPr txBox="1"/>
          <p:nvPr/>
        </p:nvSpPr>
        <p:spPr>
          <a:xfrm>
            <a:off x="571500" y="419100"/>
            <a:ext cx="230653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QUESTION 4: TECHNICAL QUALITY BAR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457200" y="666750"/>
            <a:ext cx="117348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Load-Bearing Guardrail: Structural Tenant Isolation</a:t>
            </a: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866775" y="1316235"/>
            <a:ext cx="6219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Structural Query Scoping (`OfferRepository`)</a:t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6619875" y="1316235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Verification &amp; Security Principles</a:t>
            </a:r>
            <a:endParaRPr/>
          </a:p>
        </p:txBody>
      </p:sp>
      <p:sp>
        <p:nvSpPr>
          <p:cNvPr id="463" name="Google Shape;463;p26"/>
          <p:cNvSpPr txBox="1"/>
          <p:nvPr/>
        </p:nvSpPr>
        <p:spPr>
          <a:xfrm>
            <a:off x="657225" y="158293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Database-level tenancy constraint prevents cross-tenant data leaks at the query builder boundary:</a:t>
            </a:r>
            <a:endParaRPr/>
          </a:p>
        </p:txBody>
      </p:sp>
      <p:sp>
        <p:nvSpPr>
          <p:cNvPr id="464" name="Google Shape;464;p26"/>
          <p:cNvSpPr txBox="1"/>
          <p:nvPr/>
        </p:nvSpPr>
        <p:spPr>
          <a:xfrm>
            <a:off x="771525" y="2144910"/>
            <a:ext cx="5010150" cy="190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findOffersByTenant(context: TenantContext)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const tenantId = context?.tenantId;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if (!tenantId) throw new Error('Invalid context');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b="1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Bound query strictly to tenant_id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let query = this.db('offers').where('tenant_id', tenantId);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b="1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Exclude exclusive rates for tenant0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if (tenantId === 'tenant0')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query = query.andWhere('is_exclusive', false);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return await query.select();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465" name="Google Shape;465;p26"/>
          <p:cNvSpPr txBox="1"/>
          <p:nvPr/>
        </p:nvSpPr>
        <p:spPr>
          <a:xfrm>
            <a:off x="6477000" y="163770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66" name="Google Shape;466;p26"/>
          <p:cNvSpPr txBox="1"/>
          <p:nvPr/>
        </p:nvSpPr>
        <p:spPr>
          <a:xfrm>
            <a:off x="6543675" y="164008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Runtime Assumptions: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Tenancy is enforced at the DB query level, not filtered in application memory.</a:t>
            </a:r>
            <a:endParaRPr/>
          </a:p>
        </p:txBody>
      </p:sp>
      <p:sp>
        <p:nvSpPr>
          <p:cNvPr id="467" name="Google Shape;467;p26"/>
          <p:cNvSpPr txBox="1"/>
          <p:nvPr/>
        </p:nvSpPr>
        <p:spPr>
          <a:xfrm>
            <a:off x="6477000" y="204727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68" name="Google Shape;468;p26"/>
          <p:cNvSpPr txBox="1"/>
          <p:nvPr/>
        </p:nvSpPr>
        <p:spPr>
          <a:xfrm>
            <a:off x="6543675" y="204966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 Verification: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`SwitchbackIdentityHandoff` verifies RS256 token signature &amp; extracts verified `tenantId`.</a:t>
            </a:r>
            <a:endParaRPr/>
          </a:p>
        </p:txBody>
      </p:sp>
      <p:sp>
        <p:nvSpPr>
          <p:cNvPr id="469" name="Google Shape;469;p26"/>
          <p:cNvSpPr txBox="1"/>
          <p:nvPr/>
        </p:nvSpPr>
        <p:spPr>
          <a:xfrm>
            <a:off x="6477000" y="2456854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6543675" y="245923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Double Defense: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`OfferService.getValidOffers()` validates expiration and redemption limits after scoped fetching.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6477000" y="2866429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6543675" y="2868810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Compliance Guardrail: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Guarantees money-touching offer exclusions are mathematically isolated per tenant.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/>
          <p:nvPr/>
        </p:nvSpPr>
        <p:spPr>
          <a:xfrm>
            <a:off x="2286000" y="3284339"/>
            <a:ext cx="3714750" cy="1157882"/>
          </a:xfrm>
          <a:prstGeom prst="roundRect">
            <a:avLst>
              <a:gd fmla="val 658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6191250" y="3284339"/>
            <a:ext cx="3714750" cy="1157882"/>
          </a:xfrm>
          <a:prstGeom prst="roundRect">
            <a:avLst>
              <a:gd fmla="val 658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5059430" y="1910953"/>
            <a:ext cx="207298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1095375" y="2225278"/>
            <a:ext cx="10001250" cy="8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Ready to Execute: Low Risk, High Integrity Delivery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1333500" y="4747021"/>
            <a:ext cx="952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2486025" y="3484364"/>
            <a:ext cx="4143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Delivery Confidence</a:t>
            </a:r>
            <a:endParaRPr/>
          </a:p>
        </p:txBody>
      </p:sp>
      <p:sp>
        <p:nvSpPr>
          <p:cNvPr id="483" name="Google Shape;483;p27"/>
          <p:cNvSpPr txBox="1"/>
          <p:nvPr/>
        </p:nvSpPr>
        <p:spPr>
          <a:xfrm>
            <a:off x="2486025" y="3722489"/>
            <a:ext cx="34099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1,024 net available feature hours backed by a 20% carryover buffer guarantees on-time Sprint 4 rollout.</a:t>
            </a:r>
            <a:endParaRPr/>
          </a:p>
        </p:txBody>
      </p:sp>
      <p:sp>
        <p:nvSpPr>
          <p:cNvPr id="484" name="Google Shape;484;p27"/>
          <p:cNvSpPr txBox="1"/>
          <p:nvPr/>
        </p:nvSpPr>
        <p:spPr>
          <a:xfrm>
            <a:off x="6391275" y="3484364"/>
            <a:ext cx="4143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Quality &amp; Governance</a:t>
            </a:r>
            <a:endParaRPr/>
          </a:p>
        </p:txBody>
      </p:sp>
      <p:sp>
        <p:nvSpPr>
          <p:cNvPr id="485" name="Google Shape;485;p27"/>
          <p:cNvSpPr txBox="1"/>
          <p:nvPr/>
        </p:nvSpPr>
        <p:spPr>
          <a:xfrm>
            <a:off x="6391275" y="3722489"/>
            <a:ext cx="340995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Database-bound tenant isolation, progressive 1%–100% canary ramp, and Rootly on-call workflows ensure high uptime.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